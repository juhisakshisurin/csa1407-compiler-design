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4" r:id="rId9"/>
  </p:sldIdLst>
  <p:sldSz cx="18288000" cy="10287000"/>
  <p:notesSz cx="6858000" cy="9144000"/>
  <p:embeddedFontLst>
    <p:embeddedFont>
      <p:font typeface="RoxboroughCF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6" name="Group 6"/>
          <p:cNvGrpSpPr/>
          <p:nvPr/>
        </p:nvGrpSpPr>
        <p:grpSpPr>
          <a:xfrm>
            <a:off x="1176551" y="3671626"/>
            <a:ext cx="16214733" cy="1993363"/>
            <a:chOff x="0" y="0"/>
            <a:chExt cx="1936009" cy="253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6009" cy="253760"/>
            </a:xfrm>
            <a:custGeom>
              <a:avLst/>
              <a:gdLst/>
              <a:ahLst/>
              <a:cxnLst/>
              <a:rect l="l" t="t" r="r" b="b"/>
              <a:pathLst>
                <a:path w="1936009" h="253760">
                  <a:moveTo>
                    <a:pt x="23169" y="0"/>
                  </a:moveTo>
                  <a:lnTo>
                    <a:pt x="1912840" y="0"/>
                  </a:lnTo>
                  <a:cubicBezTo>
                    <a:pt x="1925636" y="0"/>
                    <a:pt x="1936009" y="10373"/>
                    <a:pt x="1936009" y="23169"/>
                  </a:cubicBezTo>
                  <a:lnTo>
                    <a:pt x="1936009" y="230591"/>
                  </a:lnTo>
                  <a:cubicBezTo>
                    <a:pt x="1936009" y="236735"/>
                    <a:pt x="1933568" y="242629"/>
                    <a:pt x="1929223" y="246974"/>
                  </a:cubicBezTo>
                  <a:cubicBezTo>
                    <a:pt x="1924878" y="251319"/>
                    <a:pt x="1918985" y="253760"/>
                    <a:pt x="1912840" y="253760"/>
                  </a:cubicBezTo>
                  <a:lnTo>
                    <a:pt x="23169" y="253760"/>
                  </a:lnTo>
                  <a:cubicBezTo>
                    <a:pt x="10373" y="253760"/>
                    <a:pt x="0" y="243387"/>
                    <a:pt x="0" y="230591"/>
                  </a:cubicBezTo>
                  <a:lnTo>
                    <a:pt x="0" y="23169"/>
                  </a:lnTo>
                  <a:cubicBezTo>
                    <a:pt x="0" y="10373"/>
                    <a:pt x="10373" y="0"/>
                    <a:pt x="23169" y="0"/>
                  </a:cubicBezTo>
                  <a:close/>
                </a:path>
              </a:pathLst>
            </a:custGeom>
            <a:solidFill>
              <a:srgbClr val="E5F2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36009" cy="29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5286" y="3369650"/>
            <a:ext cx="15620998" cy="1993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7582"/>
              </a:lnSpc>
            </a:pPr>
            <a:r>
              <a:rPr lang="en-US" sz="10000" b="1" spc="-781" dirty="0">
                <a:solidFill>
                  <a:srgbClr val="222223"/>
                </a:solidFill>
                <a:latin typeface="Times New Roman" panose="02020603050405020304" pitchFamily="18" charset="0"/>
                <a:ea typeface="RoxboroughCF Bold"/>
                <a:cs typeface="Times New Roman" panose="02020603050405020304" pitchFamily="18" charset="0"/>
                <a:sym typeface="RoxboroughCF Bold"/>
              </a:rPr>
              <a:t>DSL Compiler for Loan Approval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68CDF5-9F15-5AFE-FFBE-AF4626E3B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33501" y="467275"/>
            <a:ext cx="15620998" cy="125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65E22D-185C-F1F8-2139-E3837FE6350F}"/>
              </a:ext>
            </a:extLst>
          </p:cNvPr>
          <p:cNvSpPr txBox="1"/>
          <p:nvPr/>
        </p:nvSpPr>
        <p:spPr>
          <a:xfrm>
            <a:off x="1333501" y="7540212"/>
            <a:ext cx="54505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Juhi Surin (192525148)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Aniksha Evanjalin (192521308)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F90B5-41F4-3965-4DDE-FD359C37A675}"/>
              </a:ext>
            </a:extLst>
          </p:cNvPr>
          <p:cNvSpPr txBox="1"/>
          <p:nvPr/>
        </p:nvSpPr>
        <p:spPr>
          <a:xfrm>
            <a:off x="12654944" y="7730299"/>
            <a:ext cx="47009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N. Deepa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87AF4F-2759-0B5F-A117-CBEAF882E0AB}"/>
              </a:ext>
            </a:extLst>
          </p:cNvPr>
          <p:cNvSpPr txBox="1"/>
          <p:nvPr/>
        </p:nvSpPr>
        <p:spPr>
          <a:xfrm>
            <a:off x="5734526" y="2774486"/>
            <a:ext cx="6957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CAPSTONE PROJECT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13F2AF69-77D6-6210-845F-C40EEF330BBC}"/>
              </a:ext>
            </a:extLst>
          </p:cNvPr>
          <p:cNvSpPr/>
          <p:nvPr/>
        </p:nvSpPr>
        <p:spPr>
          <a:xfrm>
            <a:off x="15443412" y="-1475829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F3F906C6-B1E7-4DDF-2969-7D3674CC842E}"/>
              </a:ext>
            </a:extLst>
          </p:cNvPr>
          <p:cNvSpPr/>
          <p:nvPr/>
        </p:nvSpPr>
        <p:spPr>
          <a:xfrm>
            <a:off x="-2113707" y="7070157"/>
            <a:ext cx="3474720" cy="347472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0">
            <a:extLst>
              <a:ext uri="{FF2B5EF4-FFF2-40B4-BE49-F238E27FC236}">
                <a16:creationId xmlns:a16="http://schemas.microsoft.com/office/drawing/2014/main" id="{5E4473BA-D2CA-B487-27DC-0D026FA8C785}"/>
              </a:ext>
            </a:extLst>
          </p:cNvPr>
          <p:cNvGrpSpPr/>
          <p:nvPr/>
        </p:nvGrpSpPr>
        <p:grpSpPr>
          <a:xfrm>
            <a:off x="1041181" y="3509885"/>
            <a:ext cx="16561017" cy="4954304"/>
            <a:chOff x="0" y="0"/>
            <a:chExt cx="1716870" cy="1148190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E10E079-A98C-7E08-A8C0-F84DAD6E3AB6}"/>
                </a:ext>
              </a:extLst>
            </p:cNvPr>
            <p:cNvSpPr/>
            <p:nvPr/>
          </p:nvSpPr>
          <p:spPr>
            <a:xfrm>
              <a:off x="0" y="0"/>
              <a:ext cx="1716870" cy="1148190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88BE5651-6A30-A7E7-4C15-AFC28A65F433}"/>
                </a:ext>
              </a:extLst>
            </p:cNvPr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5943600" y="1505627"/>
            <a:ext cx="8543322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788"/>
              </a:lnSpc>
            </a:pPr>
            <a:r>
              <a:rPr lang="en-US" sz="8500" b="1" spc="-47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A223B-8B0F-DC46-B067-1B9548DD103B}"/>
              </a:ext>
            </a:extLst>
          </p:cNvPr>
          <p:cNvSpPr txBox="1"/>
          <p:nvPr/>
        </p:nvSpPr>
        <p:spPr>
          <a:xfrm>
            <a:off x="1321018" y="3916901"/>
            <a:ext cx="1592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 Domain-Specific Language (DSL) called RegulaScript to automate loan approval based on banking policies.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manually coding loan rules, authorized users can define rules using a simple DSL.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processes these rules through different compiler phases and converts them into executable logic.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compiled rules are evaluated against customer information to determine loan eligibility.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accurate, consistent, and transparent loan decisions while reducing manual effort and human errors.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00B779-5CFF-EAE3-4535-34020989A6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648C56-8DAB-83DF-3302-1476EF8B7CB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465020" y="548577"/>
            <a:ext cx="13034360" cy="2641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788"/>
              </a:lnSpc>
            </a:pPr>
            <a:r>
              <a:rPr lang="en-US" sz="8500" b="1" spc="-47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Website Deployment &amp; Software requirements </a:t>
            </a: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D961B44A-354D-895A-FA53-5544024EEB56}"/>
              </a:ext>
            </a:extLst>
          </p:cNvPr>
          <p:cNvGrpSpPr/>
          <p:nvPr/>
        </p:nvGrpSpPr>
        <p:grpSpPr>
          <a:xfrm>
            <a:off x="1142999" y="3491786"/>
            <a:ext cx="7717281" cy="5918914"/>
            <a:chOff x="0" y="-38354"/>
            <a:chExt cx="1716870" cy="1186544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EE56DFFA-74F6-DAC9-2BFB-A9C0D70D101F}"/>
                </a:ext>
              </a:extLst>
            </p:cNvPr>
            <p:cNvSpPr/>
            <p:nvPr/>
          </p:nvSpPr>
          <p:spPr>
            <a:xfrm>
              <a:off x="0" y="-38354"/>
              <a:ext cx="1716870" cy="1148190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I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Deployment</a:t>
              </a:r>
            </a:p>
            <a:p>
              <a:pPr algn="ctr"/>
              <a:endPara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application will be deployed as a web-based system where users can access the loan approval service through a browser.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frontend will collect customer information and loan details using interactive web forms.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backend will execute the compiler pipeline, evaluate the compiled loan rules, and generate the final decision.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system can be hosted on cloud platforms such as AWS, Azure, or Heroku for online accessibility.</a:t>
              </a:r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6D812E06-FAAA-D52B-26A9-874CA65F66B9}"/>
                </a:ext>
              </a:extLst>
            </p:cNvPr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6" name="Group 10">
            <a:extLst>
              <a:ext uri="{FF2B5EF4-FFF2-40B4-BE49-F238E27FC236}">
                <a16:creationId xmlns:a16="http://schemas.microsoft.com/office/drawing/2014/main" id="{1B6D1C9F-FB7A-E6B7-ADFA-2A91BE2844DA}"/>
              </a:ext>
            </a:extLst>
          </p:cNvPr>
          <p:cNvGrpSpPr/>
          <p:nvPr/>
        </p:nvGrpSpPr>
        <p:grpSpPr>
          <a:xfrm>
            <a:off x="9398221" y="3490559"/>
            <a:ext cx="7861079" cy="5728817"/>
            <a:chOff x="0" y="0"/>
            <a:chExt cx="1716870" cy="1148190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D84A214A-3DED-91AF-FB5A-AC08057ED204}"/>
                </a:ext>
              </a:extLst>
            </p:cNvPr>
            <p:cNvSpPr/>
            <p:nvPr/>
          </p:nvSpPr>
          <p:spPr>
            <a:xfrm>
              <a:off x="0" y="0"/>
              <a:ext cx="1716870" cy="1148190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737E5F72-8D05-9F3A-4CF6-40AB993BEEAF}"/>
                </a:ext>
              </a:extLst>
            </p:cNvPr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F56A095-F1C4-DCF3-33DA-802A849EFDC0}"/>
              </a:ext>
            </a:extLst>
          </p:cNvPr>
          <p:cNvSpPr txBox="1"/>
          <p:nvPr/>
        </p:nvSpPr>
        <p:spPr>
          <a:xfrm>
            <a:off x="9982200" y="3490559"/>
            <a:ext cx="69342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Packages Required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C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Compiler: GCC / MinGW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or Linux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Technologies: HTML, CSS, JavaScript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Framework: CGI or REST API (optional integration)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or MySQL (for storing loan records)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 Libraries: stdio.h, stdlib.h, string.h, ctype.h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080884D-D18B-B139-668B-8EF619115A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4FED7E0-42E4-2AB0-C408-9AF22A1077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6781800" y="1536856"/>
            <a:ext cx="8543322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788"/>
              </a:lnSpc>
            </a:pPr>
            <a:r>
              <a:rPr lang="en-US" sz="8500" b="1" spc="-47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Limitations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04903" y="3467100"/>
            <a:ext cx="16154397" cy="5118701"/>
            <a:chOff x="-1900708" y="-38100"/>
            <a:chExt cx="3743880" cy="1186290"/>
          </a:xfrm>
        </p:grpSpPr>
        <p:sp>
          <p:nvSpPr>
            <p:cNvPr id="11" name="Freeform 11"/>
            <p:cNvSpPr/>
            <p:nvPr/>
          </p:nvSpPr>
          <p:spPr>
            <a:xfrm>
              <a:off x="-1900708" y="-38100"/>
              <a:ext cx="3743880" cy="1148190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I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current system is designed only for </a:t>
              </a:r>
              <a:r>
                <a:rPr lang="en-I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loan approval</a:t>
              </a: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cannot be used for other banking services.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project supports only predefined banking rules written in RegulaScript.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application currently provides a console-based execution and does not include a complete web interface.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authentication and role-based access control have not yet been implemented.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history and audit logs are not permanently stored.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system does not currently support batch processing or multiple users simultaneously.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F869CBF-F00A-E4BB-A357-86465B1DE0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E0DBDF9-6885-7E10-DCD2-6E20E86A9E9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943096" y="1098351"/>
            <a:ext cx="15049500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0788"/>
              </a:lnSpc>
            </a:pPr>
            <a:r>
              <a:rPr lang="en-US" sz="8500" b="1" spc="-47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Module 1 : Loan Rule Compiler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49992" y="2271703"/>
            <a:ext cx="15842604" cy="6681797"/>
            <a:chOff x="-1852660" y="-38100"/>
            <a:chExt cx="3671620" cy="1629449"/>
          </a:xfrm>
        </p:grpSpPr>
        <p:sp>
          <p:nvSpPr>
            <p:cNvPr id="11" name="Freeform 11"/>
            <p:cNvSpPr/>
            <p:nvPr/>
          </p:nvSpPr>
          <p:spPr>
            <a:xfrm>
              <a:off x="-1852660" y="53361"/>
              <a:ext cx="3671620" cy="1537988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I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Loan Rule Compiler converts loan approval rules written in RegulaScript into executable machine-readable code.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It performs lexical analysis to identify keywords, identifiers, operators, and literals by generating a token stream.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syntax </a:t>
              </a:r>
              <a:r>
                <a:rPr lang="en-IN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analyzer</a:t>
              </a: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verifies the grammar of the loan rules and constructs a parse tree.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semantic </a:t>
              </a:r>
              <a:r>
                <a:rPr lang="en-IN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analyzer</a:t>
              </a: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validates field names, data types, and rule conditions to ensure logical correctness.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compiler generates intermediate code, optimizes it by removing redundant operations, and produces the final compiled rule.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compiled rule is then passed to the Loan Compliance and Decision Engine for execution.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F0520D8-246F-B654-A1E9-F632CF7286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AC2CA2-2B9B-DF1B-63FD-6B66C265BAB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411254" y="370833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2590800" y="825942"/>
            <a:ext cx="15088829" cy="2641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0788"/>
              </a:lnSpc>
            </a:pPr>
            <a:r>
              <a:rPr lang="en-US" sz="8500" b="1" spc="-47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Module 2 : Loan Compliance 		&amp; Loan Decision Engine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3447" y="3714018"/>
            <a:ext cx="16025351" cy="5391879"/>
            <a:chOff x="0" y="0"/>
            <a:chExt cx="1716870" cy="11481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16870" cy="1148190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Loan Compliance and Decision Engine receives the compiled rules generated by the Loan Rule Compiler.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accepts customer information such as Customer ID, Age, Credit Score, Annual Income, Employment Status, Loan Type, and Loan Amount as input.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engine evaluates the customer data against the compiled banking rules to verify compliance with loan policies.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Based on the evaluation, the system determines the customer's eligibility status and generates the appropriate loan decision.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final result is displayed as Approved, Rejected, or Review Required, along with the decision reason and execution status.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module ensures accurate, transparent, and consistent loan approval while reducing manual effort and human errors.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77C2C80-A7D8-B0DB-157A-E8F890D0CF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C2BBBA-DB5C-570C-8E17-D1B7202179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1E46E-D9B7-2BDA-FD55-64753BB47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6EC7F20-C02E-D507-D4A5-0726714C9CE7}"/>
              </a:ext>
            </a:extLst>
          </p:cNvPr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68B0354-5841-6092-F7BB-3FA7F6CFAF4F}"/>
              </a:ext>
            </a:extLst>
          </p:cNvPr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4D04CE3-005E-EEFC-1024-0AB3228A5BB6}"/>
              </a:ext>
            </a:extLst>
          </p:cNvPr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F0BF465-869B-D12F-FEA7-629B4D316BEA}"/>
              </a:ext>
            </a:extLst>
          </p:cNvPr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E0DA17-CBF1-10FB-8E1E-233916E6939B}"/>
              </a:ext>
            </a:extLst>
          </p:cNvPr>
          <p:cNvSpPr txBox="1"/>
          <p:nvPr/>
        </p:nvSpPr>
        <p:spPr>
          <a:xfrm>
            <a:off x="6174918" y="1280965"/>
            <a:ext cx="15088829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0788"/>
              </a:lnSpc>
            </a:pPr>
            <a:r>
              <a:rPr lang="en-US" sz="8500" b="1" spc="-47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Conclusion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BB32A3A-B91F-6BBA-4ED2-9A25800021B2}"/>
              </a:ext>
            </a:extLst>
          </p:cNvPr>
          <p:cNvGrpSpPr/>
          <p:nvPr/>
        </p:nvGrpSpPr>
        <p:grpSpPr>
          <a:xfrm>
            <a:off x="1040990" y="2974744"/>
            <a:ext cx="16025351" cy="6040178"/>
            <a:chOff x="0" y="-38100"/>
            <a:chExt cx="1716870" cy="1286244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A070494-98AD-704D-8BC8-A3A3DE9373FF}"/>
                </a:ext>
              </a:extLst>
            </p:cNvPr>
            <p:cNvSpPr/>
            <p:nvPr/>
          </p:nvSpPr>
          <p:spPr>
            <a:xfrm>
              <a:off x="0" y="0"/>
              <a:ext cx="1716870" cy="1248144"/>
            </a:xfrm>
            <a:custGeom>
              <a:avLst/>
              <a:gdLst/>
              <a:ahLst/>
              <a:cxnLst/>
              <a:rect l="l" t="t" r="r" b="b"/>
              <a:pathLst>
                <a:path w="1716870" h="1148190">
                  <a:moveTo>
                    <a:pt x="58524" y="0"/>
                  </a:moveTo>
                  <a:lnTo>
                    <a:pt x="1658346" y="0"/>
                  </a:lnTo>
                  <a:cubicBezTo>
                    <a:pt x="1690668" y="0"/>
                    <a:pt x="1716870" y="26202"/>
                    <a:pt x="1716870" y="58524"/>
                  </a:cubicBezTo>
                  <a:lnTo>
                    <a:pt x="1716870" y="1089666"/>
                  </a:lnTo>
                  <a:cubicBezTo>
                    <a:pt x="1716870" y="1105188"/>
                    <a:pt x="1710704" y="1120074"/>
                    <a:pt x="1699729" y="1131049"/>
                  </a:cubicBezTo>
                  <a:cubicBezTo>
                    <a:pt x="1688753" y="1142024"/>
                    <a:pt x="1673868" y="1148190"/>
                    <a:pt x="1658346" y="1148190"/>
                  </a:cubicBezTo>
                  <a:lnTo>
                    <a:pt x="58524" y="1148190"/>
                  </a:lnTo>
                  <a:cubicBezTo>
                    <a:pt x="26202" y="1148190"/>
                    <a:pt x="0" y="1121988"/>
                    <a:pt x="0" y="1089666"/>
                  </a:cubicBezTo>
                  <a:lnTo>
                    <a:pt x="0" y="58524"/>
                  </a:lnTo>
                  <a:cubicBezTo>
                    <a:pt x="0" y="43002"/>
                    <a:pt x="6166" y="28116"/>
                    <a:pt x="17141" y="17141"/>
                  </a:cubicBezTo>
                  <a:cubicBezTo>
                    <a:pt x="28116" y="6166"/>
                    <a:pt x="43002" y="0"/>
                    <a:pt x="585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I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project demonstrates how compiler design concepts can be applied to automate loan compliance and loan approval.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RegulaScript Domain-Specific Language (DSL) enables banking rules to be defined in a simple and structured manner.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compiler pipeline validates, optimizes, and converts loan rules into executable logic for accurate decision-making.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Loan Decision Engine evaluates customer information efficiently and generates transparent, reliable, and consistent loan decisions.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Overall, the system reduces manual effort, minimizes human errors, and provides a scalable foundation for future banking automation.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1D93951-3FB6-3FEB-2114-7D26D0B571AC}"/>
                </a:ext>
              </a:extLst>
            </p:cNvPr>
            <p:cNvSpPr txBox="1"/>
            <p:nvPr/>
          </p:nvSpPr>
          <p:spPr>
            <a:xfrm>
              <a:off x="0" y="-38100"/>
              <a:ext cx="1716870" cy="1186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4E62E21-C086-C8FF-1ED0-390086F21F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3D2991-AA68-CF50-C929-13255FE149F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9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5104" y="4913252"/>
            <a:ext cx="18838044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-414940" y="1475698"/>
            <a:ext cx="19117881" cy="0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 flipH="1" flipV="1">
            <a:off x="4023984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AutoShape 5"/>
          <p:cNvSpPr/>
          <p:nvPr/>
        </p:nvSpPr>
        <p:spPr>
          <a:xfrm flipV="1">
            <a:off x="13719333" y="-412534"/>
            <a:ext cx="0" cy="11039277"/>
          </a:xfrm>
          <a:prstGeom prst="line">
            <a:avLst/>
          </a:prstGeom>
          <a:ln w="9525" cap="flat">
            <a:gradFill>
              <a:gsLst>
                <a:gs pos="0">
                  <a:srgbClr val="FFFFFF">
                    <a:alpha val="15000"/>
                  </a:srgbClr>
                </a:gs>
                <a:gs pos="25000">
                  <a:srgbClr val="222223">
                    <a:alpha val="15000"/>
                  </a:srgbClr>
                </a:gs>
                <a:gs pos="50000">
                  <a:srgbClr val="FFFFFF">
                    <a:alpha val="15000"/>
                  </a:srgbClr>
                </a:gs>
                <a:gs pos="75000">
                  <a:srgbClr val="222223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3079357" y="4561025"/>
            <a:ext cx="12129285" cy="162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138"/>
              </a:lnSpc>
            </a:pPr>
            <a:r>
              <a:rPr lang="en-US" sz="18000" b="1" spc="-539" dirty="0">
                <a:solidFill>
                  <a:srgbClr val="22222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Thank You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3CF6E1D-3102-7853-40DD-B671F5A7AAEE}"/>
              </a:ext>
            </a:extLst>
          </p:cNvPr>
          <p:cNvSpPr/>
          <p:nvPr/>
        </p:nvSpPr>
        <p:spPr>
          <a:xfrm>
            <a:off x="12877800" y="-1136778"/>
            <a:ext cx="6565200" cy="6050029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A9FB00E-EC3D-EDD6-59A0-A74ED8A7E170}"/>
              </a:ext>
            </a:extLst>
          </p:cNvPr>
          <p:cNvSpPr/>
          <p:nvPr/>
        </p:nvSpPr>
        <p:spPr>
          <a:xfrm>
            <a:off x="-1371600" y="7073942"/>
            <a:ext cx="3474720" cy="347472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702</Words>
  <Application>Microsoft Office PowerPoint</Application>
  <PresentationFormat>Custom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RoxboroughCF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</dc:title>
  <dc:creator>Sakshi</dc:creator>
  <cp:lastModifiedBy>Juhi Surin</cp:lastModifiedBy>
  <cp:revision>2</cp:revision>
  <dcterms:created xsi:type="dcterms:W3CDTF">2006-08-16T00:00:00Z</dcterms:created>
  <dcterms:modified xsi:type="dcterms:W3CDTF">2026-07-24T14:31:42Z</dcterms:modified>
  <dc:identifier>DAHQTGEMKUc</dc:identifier>
</cp:coreProperties>
</file>